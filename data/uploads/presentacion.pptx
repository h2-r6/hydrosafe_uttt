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work/icons/logo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05156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A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HydroSafe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5C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inteligente de calidad del agua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de Tula-Tepeji  ·  Redes Inteligentes y Ciberseguridad  ·  Grupo 9-IRIC-G1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monitorear el agua?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Contaminantes como el plomo son invisibles, no cambian el sabor del agua, y sus efectos en la salud aparecen con el tiempo — por eso monitorear no es opcional.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5" name="Image 0" descr="/home/claude/pptx-work/icons/clock-co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22962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121408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Antes: muestras manuales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423160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técnico toma agua y la manda a laboratorio. Resultados en días, no en tiempo real — y solo se prueba de vez en cuando.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355848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9" name="Image 1" descr="/home/claude/pptx-work/icons/alert-co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350324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328416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riesgo es real y silencioso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363016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Plomo, cobre y bacterias fuera de rango afectan la salud incluso en cantidades pequeñas, sin cambiar cómo se ve o sabe el agua.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62856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13" name="Image 2" descr="/home/claude/pptx-work/icons/file-cob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471025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535424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un estándar oficial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4837176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NOM-127-SSA1-2021 define los límites permitidos de cada contaminante para agua de consumo humano en México.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HydroSafe · UTTT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parámetros, evaluados en tiempo real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nodo ESP32 mide continuamente y el sistema evalúa cada lectura contra la NOM-127-SSA1-2021.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7220" y="2148840"/>
            <a:ext cx="2029968" cy="2651760"/>
          </a:xfrm>
          <a:prstGeom prst="roundRect">
            <a:avLst>
              <a:gd name="adj" fmla="val 3604"/>
            </a:avLst>
          </a:prstGeom>
          <a:solidFill>
            <a:srgbClr val="FBF8EF"/>
          </a:solidFill>
          <a:ln w="12700">
            <a:solidFill>
              <a:srgbClr val="D8CD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1308" y="2468880"/>
            <a:ext cx="621792" cy="621792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6" name="Image 0" descr="/home/claude/pptx-work/icons/droplet-co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974" y="2630546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" y="3291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Flúor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08660" y="377647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1.5 mg/L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08660" y="42976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NOM-127-SSA1-2021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848356" y="2148840"/>
            <a:ext cx="2029968" cy="2651760"/>
          </a:xfrm>
          <a:prstGeom prst="roundRect">
            <a:avLst>
              <a:gd name="adj" fmla="val 3604"/>
            </a:avLst>
          </a:prstGeom>
          <a:solidFill>
            <a:srgbClr val="FBF8EF"/>
          </a:solidFill>
          <a:ln w="12700">
            <a:solidFill>
              <a:srgbClr val="D8CDB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52444" y="2468880"/>
            <a:ext cx="621792" cy="621792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12" name="Image 1" descr="/home/claude/pptx-work/icons/activity-co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110" y="2630546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9796" y="3291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939796" y="377647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2.0 mg/L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939796" y="42976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NOM-127-SSA1-2021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079492" y="2148840"/>
            <a:ext cx="2029968" cy="2651760"/>
          </a:xfrm>
          <a:prstGeom prst="roundRect">
            <a:avLst>
              <a:gd name="adj" fmla="val 3604"/>
            </a:avLst>
          </a:prstGeom>
          <a:solidFill>
            <a:srgbClr val="FBF8EF"/>
          </a:solidFill>
          <a:ln w="12700">
            <a:solidFill>
              <a:srgbClr val="D8CDB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83580" y="2468880"/>
            <a:ext cx="621792" cy="621792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18" name="Image 2" descr="/home/claude/pptx-work/icons/alert-cob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246" y="2630546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70932" y="3291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Plomo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170932" y="377647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0.01 mg/L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170932" y="42976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NOM-127-SSA1-2021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310628" y="2148840"/>
            <a:ext cx="2029968" cy="2651760"/>
          </a:xfrm>
          <a:prstGeom prst="roundRect">
            <a:avLst>
              <a:gd name="adj" fmla="val 3604"/>
            </a:avLst>
          </a:prstGeom>
          <a:solidFill>
            <a:srgbClr val="FBF8EF"/>
          </a:solidFill>
          <a:ln w="12700">
            <a:solidFill>
              <a:srgbClr val="D8CDB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14716" y="2468880"/>
            <a:ext cx="621792" cy="621792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24" name="Image 3" descr="/home/claude/pptx-work/icons/database-cob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382" y="2630546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2068" y="3291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(TDS)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402068" y="377647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500 mg/L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402068" y="42976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NOM-127-SSA1-2021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9541764" y="2148840"/>
            <a:ext cx="2029968" cy="2651760"/>
          </a:xfrm>
          <a:prstGeom prst="roundRect">
            <a:avLst>
              <a:gd name="adj" fmla="val 3604"/>
            </a:avLst>
          </a:prstGeom>
          <a:solidFill>
            <a:srgbClr val="FBF8EF"/>
          </a:solidFill>
          <a:ln w="12700">
            <a:solidFill>
              <a:srgbClr val="D8CDB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245852" y="2468880"/>
            <a:ext cx="621792" cy="621792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30" name="Image 4" descr="/home/claude/pptx-work/icons/shield-cob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518" y="2630546"/>
            <a:ext cx="298460" cy="2984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33204" y="3291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Posible E. coli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9633204" y="377647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= 0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9633204" y="42976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NOM-127-SSA1-2021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HydroSafe · UTTT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Java puro (sin frameworks) + frontend Vue, con dos roles: Encargado de Monitoreo y Administrador.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9556" y="26517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0A1512"/>
          </a:solidFill>
          <a:ln/>
        </p:spPr>
      </p:sp>
      <p:sp>
        <p:nvSpPr>
          <p:cNvPr id="5" name="Shape 3"/>
          <p:cNvSpPr/>
          <p:nvPr/>
        </p:nvSpPr>
        <p:spPr>
          <a:xfrm>
            <a:off x="2025396" y="3017520"/>
            <a:ext cx="731520" cy="731520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6" name="Image 0" descr="/home/claude/pptx-work/icons/cpu-co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5591" y="32077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996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Nodo IoT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0996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sensores</a:t>
            </a:r>
            <a:endParaRPr lang="en-US" sz="1100" dirty="0"/>
          </a:p>
        </p:txBody>
      </p:sp>
      <p:pic>
        <p:nvPicPr>
          <p:cNvPr id="9" name="Image 1" descr="/home/claude/pptx-work/icons/arrow-co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3639312"/>
            <a:ext cx="402336" cy="4023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22876" y="26517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0A1512"/>
          </a:solidFill>
          <a:ln/>
        </p:spPr>
      </p:sp>
      <p:sp>
        <p:nvSpPr>
          <p:cNvPr id="11" name="Shape 7"/>
          <p:cNvSpPr/>
          <p:nvPr/>
        </p:nvSpPr>
        <p:spPr>
          <a:xfrm>
            <a:off x="5728716" y="3017520"/>
            <a:ext cx="731520" cy="731520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12" name="Image 2" descr="/home/claude/pptx-work/icons/server-cob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911" y="320771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14316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814316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REST + SSE</a:t>
            </a:r>
            <a:endParaRPr lang="en-US" sz="1100" dirty="0"/>
          </a:p>
        </p:txBody>
      </p:sp>
      <p:pic>
        <p:nvPicPr>
          <p:cNvPr id="15" name="Image 3" descr="/home/claude/pptx-work/icons/arrow-cob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3639312"/>
            <a:ext cx="402336" cy="40233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426196" y="26517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0A1512"/>
          </a:solidFill>
          <a:ln/>
        </p:spPr>
      </p:sp>
      <p:sp>
        <p:nvSpPr>
          <p:cNvPr id="17" name="Shape 11"/>
          <p:cNvSpPr/>
          <p:nvPr/>
        </p:nvSpPr>
        <p:spPr>
          <a:xfrm>
            <a:off x="9432036" y="3017520"/>
            <a:ext cx="731520" cy="731520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18" name="Image 4" descr="/home/claude/pptx-work/icons/monitor-cob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2231" y="3207715"/>
            <a:ext cx="351130" cy="35113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17636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517636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Admin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 vía Server-Sent Events: cada lectura y alerta nueva llega sola al dashboard, sin recargar.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HydroSafe · UTTT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estado del agua, de un vistazo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24712"/>
            <a:ext cx="7955280" cy="5006340"/>
          </a:xfrm>
          <a:prstGeom prst="roundRect">
            <a:avLst>
              <a:gd name="adj" fmla="val 1096"/>
            </a:avLst>
          </a:prstGeom>
          <a:solidFill>
            <a:srgbClr val="FBF8EF"/>
          </a:solidFill>
          <a:ln w="12700">
            <a:solidFill>
              <a:srgbClr val="D8CDB0"/>
            </a:solidFill>
            <a:prstDash val="solid"/>
          </a:ln>
        </p:spPr>
      </p:sp>
      <p:pic>
        <p:nvPicPr>
          <p:cNvPr id="4" name="Image 0" descr="/home/claude/pptx-work/img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70432"/>
            <a:ext cx="7863840" cy="49149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234440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6" name="Image 1" descr="/home/claude/pptx-work/icons/activity-co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921" y="138184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09760" y="12070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Tanque animado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509760" y="1508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general (bueno / precaución / riesgo) se ve al instante, sin leer números.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732520" y="2971800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10" name="Image 2" descr="/home/claude/pptx-work/icons/bell-cob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921" y="3119201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0" y="29443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Gráfica en vivo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50976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60 minutos de cualquier parámetro, actualizándose sola vía SSE.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8732520" y="4709160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14" name="Image 3" descr="/home/claude/pptx-work/icons/check-cob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921" y="4856561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09760" y="46817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parámetros a la vez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9509760" y="4983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su propia tarjeta, límite normativo y estado.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HydroSafe · UTTT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 automáticas, reportes exportables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166360" cy="3263265"/>
          </a:xfrm>
          <a:prstGeom prst="roundRect">
            <a:avLst>
              <a:gd name="adj" fmla="val 1681"/>
            </a:avLst>
          </a:prstGeom>
          <a:solidFill>
            <a:srgbClr val="FBF8EF"/>
          </a:solidFill>
          <a:ln w="12700">
            <a:solidFill>
              <a:srgbClr val="D8CDB0"/>
            </a:solidFill>
            <a:prstDash val="solid"/>
          </a:ln>
        </p:spPr>
      </p:sp>
      <p:pic>
        <p:nvPicPr>
          <p:cNvPr id="4" name="Image 0" descr="/home/claude/pptx-work/img/aler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074920" cy="3171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89145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reglas: crítica si sale del límite, media si ya está a menos del 15% del techo.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080760" y="1234440"/>
            <a:ext cx="5166360" cy="3263265"/>
          </a:xfrm>
          <a:prstGeom prst="roundRect">
            <a:avLst>
              <a:gd name="adj" fmla="val 1681"/>
            </a:avLst>
          </a:prstGeom>
          <a:solidFill>
            <a:srgbClr val="FBF8EF"/>
          </a:solidFill>
          <a:ln w="12700">
            <a:solidFill>
              <a:srgbClr val="D8CDB0"/>
            </a:solidFill>
            <a:prstDash val="solid"/>
          </a:ln>
        </p:spPr>
      </p:sp>
      <p:pic>
        <p:nvPicPr>
          <p:cNvPr id="7" name="Image 1" descr="/home/claude/pptx-work/img/repor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074920" cy="31718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4589145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real a CSV, Excel y PDF, filtrable por fecha y parámetro.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HydroSafe · UTTT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Pensado para producción, no solo para la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4" name="Image 0" descr="/home/claude/pptx-work/icons/lock-co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564721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898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Contraseñas con PBKDF2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25880" y="1691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con sal por usuario, 120,000 iteraciones — nunca texto plano.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8" name="Image 1" descr="/home/claude/pptx-work/icons/shield-co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3046049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87121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Bloqueo tras intentos fallidos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25880" y="31729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intentos incorrectos bloquean la cuenta 60 segundos.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12" name="Image 2" descr="/home/claude/pptx-work/icons/users-cob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4527377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35254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roles distintos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25880" y="46542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 de Monitoreo y Administrador, con permisos separados.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309360" y="1417320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16" name="Image 3" descr="/home/claude/pptx-work/icons/list-cob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761" y="156472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86600" y="13898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completa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086600" y="1691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de administración queda registrada: quién, qué y cuándo.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309360" y="2898648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20" name="Image 4" descr="/home/claude/pptx-work/icons/smartphone-cob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761" y="3046049"/>
            <a:ext cx="272125" cy="2721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287121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Instalable como app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7086600" y="31729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con ícono propio — se agrega a la pantalla de inicio del celular.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309360" y="4379976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24" name="Image 5" descr="/home/claude/pptx-work/icons/maximize-cob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761" y="4527377"/>
            <a:ext cx="272125" cy="2721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86600" y="435254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kiosko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7086600" y="46542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completa con Wake Lock, para dejarlo puesto en un monitor del laboratorio.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HydroSafe · UTTT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Siguientes pasos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4" name="Image 0" descr="/home/claude/pptx-work/icons/database-co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610441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43560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Firebird real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25880" y="17373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los datos viven en memoria; el diccionario de datos ya está mapeado.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09360" y="1463040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8" name="Image 1" descr="/home/claude/pptx-work/icons/cpu-co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761" y="161044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86600" y="143560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Soporte multi-nodo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086600" y="17373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una cisterna a la vez, con vista comparativa entre nodos.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383280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12" name="Image 2" descr="/home/claude/pptx-work/icons/bell-cob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53068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35584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Notificaciones por correo / Telegram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25880" y="36576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de las notificaciones del navegador que ya existen.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309360" y="3383280"/>
            <a:ext cx="566928" cy="566928"/>
          </a:xfrm>
          <a:prstGeom prst="ellipse">
            <a:avLst/>
          </a:prstGeom>
          <a:solidFill>
            <a:srgbClr val="0F2F2A"/>
          </a:solidFill>
          <a:ln/>
        </p:spPr>
      </p:sp>
      <p:pic>
        <p:nvPicPr>
          <p:cNvPr id="16" name="Image 3" descr="/home/claude/pptx-work/icons/trending-cob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761" y="353068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86600" y="335584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único de calidad (0–100)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086600" y="36576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los 5 parámetros en un solo indicador fácil de leer.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HydroSafe · UTTT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work/icons/logo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2996" y="19202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803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A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3703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C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HydroSafe — Monitoreo inteligente de calidad del agua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UTTT · Redes Inteligentes y Ciberseguridad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2026-07-23T19:12:09Z</dcterms:created>
  <dcterms:modified xsi:type="dcterms:W3CDTF">2026-07-23T19:12:09Z</dcterms:modified>
</cp:coreProperties>
</file>